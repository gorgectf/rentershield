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3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32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3080" y="1516542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2BB5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593080" y="156226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124200" y="279670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RenterShield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124200" y="361966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rights. Take action. Protect your home.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38600" y="444262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AI.Challenges Hackathon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95800" y="499126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Lovable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666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7666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Tenants are unaware of their legal rights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97666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7666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private renter households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1986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£700M+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71986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unfair deposit deductions yearly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306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6306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know how to challenge landlords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7666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reports that 1 in 3 renters have experienced at least one legal housing issue in the past year. Information exists but is buried across gov.uk, Citizens Advice, and Shelter in dense legal jargon.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7477" y="89494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47477" y="135214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rights navigator for renters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947477" y="226654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RenterShield guides tenants through their specific problem with a simple decision-tree flow, delivering personalised legal steps, template letters, and relevant legislation — all in plain English.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47477" y="336382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Situation-specific guidance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 few questions, get tailored legal 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47477" y="391246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Template letters included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Ready-to-send letters for deposit disputes, repairs &amp; more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47477" y="446110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No login required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free, instant access, mobile-first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1168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underserved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37360" y="2286000"/>
            <a:ext cx="2743200" cy="2286000"/>
          </a:xfrm>
          <a:prstGeom prst="roundRect">
            <a:avLst>
              <a:gd name="adj" fmla="val 6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01168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£2.1B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1168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legal services for housing disputes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2743200" cy="2286000"/>
          </a:xfrm>
          <a:prstGeom prst="roundRect">
            <a:avLst>
              <a:gd name="adj" fmla="val 6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3776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£340M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legal tools for private renters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2286000"/>
            <a:ext cx="2743200" cy="2286000"/>
          </a:xfrm>
          <a:prstGeom prst="roundRect">
            <a:avLst>
              <a:gd name="adj" fmla="val 6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86384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£8.5M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86384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First-year target: 50K premium users at £14/mo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4937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UK Government English Housing Survey 2023, IBISWorld UK Legal Services Report, Shelter Annual Review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1001949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103120" y="1642029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"Unlike Citizens Advice, we give renters </a:t>
            </a:r>
            <a:r>
              <a:rPr lang="en-US" sz="24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instant, personalised action plans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generic articles."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3105069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103120" y="32879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Personalised, not generic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3745149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Decision-tree logic tailors guidance to each user's exact situation and jurisdiction.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3105069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0" y="32879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Action-oriented output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745149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letters, deadline calculators, and step-by-step checklists — not just information.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3105069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955280" y="3287949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3745149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login, no cost for core features. Mobile-first, loads in under 2 seconds.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5528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45528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SaaS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45528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guidance is always free. Premium tier unlocks advanced tools for power users.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45528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Free tier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Decision-tree guidance, basic template letters, rights information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5528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Premium — £14/month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letter drafting, deadline tracking, landlord communication log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5528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B2B — £499/mo per org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for housing associations, councils, and tenant unions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12088" y="173736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2BB5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12088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712088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user / month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12088" y="3840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5% free-to-paid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80350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103120" y="126070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channels to early adopters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449425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103120" y="263230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2998065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&amp; Forums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3546705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r/LegalAdviceUK, r/HousingUK, MoneySavingExpert forums. Answer real questions with links to the tool.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449425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0" y="263230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998065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Shelter &amp; CAB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546705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as a free self-service supplement. They handle volume; we handle personalisation.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2449425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955280" y="263230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998065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3546705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content: 'landlord won't return deposit UK'. High-intent searches with clear conversion.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96111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0" y="953311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in 24 hours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050591"/>
            <a:ext cx="2926080" cy="3200400"/>
          </a:xfrm>
          <a:prstGeom prst="roundRect">
            <a:avLst>
              <a:gd name="adj" fmla="val 4688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645920" y="22334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278211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Interactive decision-tree for 3 core issues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328503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Template letter generator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378795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Mobile-responsive, no-login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429087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Pitch deck as a web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050591"/>
            <a:ext cx="2926080" cy="3200400"/>
          </a:xfrm>
          <a:prstGeom prst="roundRect">
            <a:avLst>
              <a:gd name="adj" fmla="val 4688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54880" y="22334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Riskiest Assumptions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78211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Renters will self-serve rather than call helplines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28503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Template letters are 'good enough' without solicitor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78795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Free users convert to premium at 5%+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2050591"/>
            <a:ext cx="2926080" cy="3200400"/>
          </a:xfrm>
          <a:prstGeom prst="roundRect">
            <a:avLst>
              <a:gd name="adj" fmla="val 4688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863840" y="22334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0" y="278211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Tested with 3 renters — all completed flow in &lt;2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328503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2/3 said they'd share with friends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3787951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'This is what I needed last year' — tester feedback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5571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15571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behind RenterShield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27251" y="21031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4027251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Mason Preece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27251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Founder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01571" y="3291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in Computer Science. Has felt the impact of poor housing conditions and strives to help others achieve a proper, safe, home.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54873" y="490468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9B3"/>
                </a:solidFill>
                <a:latin typeface="Arial" pitchFamily="34" charset="0"/>
                <a:cs typeface="Arial" pitchFamily="34" charset="-120"/>
              </a:rPr>
              <a:t>“I’ve had friends who’ve been tenants who didn’t know their rights; nobody should lose money because the law is hard to read and built against them.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1214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BREAKDOWN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171214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£50K seed — 12 month runway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96894" y="2560320"/>
            <a:ext cx="4297680" cy="1280160"/>
          </a:xfrm>
          <a:prstGeom prst="roundRect">
            <a:avLst>
              <a:gd name="adj" fmla="val 10714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079774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085614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85614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£20,000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85614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development, legal content review, UX improvements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68894" y="2560320"/>
            <a:ext cx="4297680" cy="1280160"/>
          </a:xfrm>
          <a:prstGeom prst="roundRect">
            <a:avLst>
              <a:gd name="adj" fmla="val 10714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51774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57614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57614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57614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Solicitor review of template letters, regulatory compliance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96894" y="4114800"/>
            <a:ext cx="4297680" cy="1280160"/>
          </a:xfrm>
          <a:prstGeom prst="roundRect">
            <a:avLst>
              <a:gd name="adj" fmla="val 10714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079774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85614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Acquisition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85614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£12,000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85614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SEO, content, community partnerships, Reddit/forum presence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68894" y="4114800"/>
            <a:ext cx="4297680" cy="1280160"/>
          </a:xfrm>
          <a:prstGeom prst="roundRect">
            <a:avLst>
              <a:gd name="adj" fmla="val 10714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651774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57614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Hosting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57614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57614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customer support tooling,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6541" y="731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66541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at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66541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Expand to Scotland, Wales, NI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law varies by jurisdiction — we modularize by region, then go international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66541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Network effects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shared template letter brings new users. Community-reported outcomes improve guidance for everyone.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6541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Platform play  </a:t>
            </a:r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Duolingo of tenant rights — gamified learning, community support, verified landlord ratings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93021" y="210312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93021" y="2286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93021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renters who could benefit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93021" y="3291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6D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£700M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93021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deposit deductions prevented annually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93021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93021" y="4663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likely to win disputes with proper guidance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1031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30 days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10312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0312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on Reddit &amp; forums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3657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to r/LegalAdviceUK, r/HousingUK, MoneySavingExpert. Target: 500 users in week 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2860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10 issue types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657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mould, harassment, rent increases, Section 21 notices, and more.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22860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2433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95528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9552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Shelter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3657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as a free self-service tool to reduce their helpline volume. Begin pilot conversation.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17323" y="5610914"/>
            <a:ext cx="7052553" cy="482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88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[mason.work.mmp@gmail.com] · [https://www.linkedin.com/in/mason-preece-a985593b3/]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881</Words>
  <Application>Microsoft Office PowerPoint</Application>
  <PresentationFormat>Widescreen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RenterShield — Pitch Deck</dc:title>
  <dc:subject>PptxGenJS Presentation</dc:subject>
  <dc:creator>RenterShield</dc:creator>
  <cp:lastModifiedBy>Mason Preece</cp:lastModifiedBy>
  <cp:revision>4</cp:revision>
  <dcterms:created xsi:type="dcterms:W3CDTF">2026-03-17T18:59:43Z</dcterms:created>
  <dcterms:modified xsi:type="dcterms:W3CDTF">2026-03-17T19:30:16Z</dcterms:modified>
</cp:coreProperties>
</file>