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987552"/>
            <a:ext cx="5943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RenterShield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658368" y="1847088"/>
            <a:ext cx="6126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Know your rights. Take action. Protect your home.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58368" y="2788920"/>
            <a:ext cx="5669280" cy="19202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953512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this deck now does better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3291840"/>
            <a:ext cx="526694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Sharpens the problem, de-risks bold claims, shows what the prototype already proves, and frames RenterShield as a credible early-stage venture rather than just a useful project.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720840" y="987552"/>
            <a:ext cx="4754880" cy="3721608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922008" y="1152144"/>
            <a:ext cx="4352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Hackathon framing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922008" y="1490472"/>
            <a:ext cx="4352544" cy="306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in Lovable as a public, no-login prototype.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Current prototype strengths: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Interactive decision trees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Region-aware rights guidance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Emergency support links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Template letters and action steps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562356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AI.Challenges Hackathon 2025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Renters hit legal problems fast — but the path to action is fragmented and intimidating.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4.6M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859536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UK private renter households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822192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023360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£700M+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4023360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Estimated value tied up in unfair deposit disputes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986016" y="2103120"/>
            <a:ext cx="3383280" cy="10515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7187184" y="2304288"/>
            <a:ext cx="2926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57%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187184" y="269748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Renters who do not know how to challenge a landlord issue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547872"/>
            <a:ext cx="704088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3712464"/>
            <a:ext cx="66385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matters now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050792"/>
            <a:ext cx="663854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can usually find information somewhere — GOV.UK, Shelter, Citizens Advice, forums — but not in a form that quickly tells them what to do next in their exact situation. When the issue is urgent, legal jargon and fragmented guidance create delay, confusion, and avoidable losses.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973568" y="3547872"/>
            <a:ext cx="3529584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8174736" y="3712464"/>
            <a:ext cx="3127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Judge-friendly takeaway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174736" y="4050792"/>
            <a:ext cx="312724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 is specific, painful, and time-sensitive: renters need clear next actions, not another article to read.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An interactive rights navigator that turns tenant confusion into a step-by-step action plan.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Choose the issue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Select the problem you are facing — deposit dispute, repairs, eviction, rent increase, and more.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52544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53712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Answer simple questions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53712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logic narrows the situation using plain-English prompts instead of legal jargon.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46720" y="1965960"/>
            <a:ext cx="3474720" cy="13258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47888" y="2130552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Get a usable next step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47888" y="2468880"/>
            <a:ext cx="3072384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Receive tailored actions, template letters, and relevant legal references without creating an account.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767328"/>
            <a:ext cx="5577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Public, no-login, mobile-friendly prototype already live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Guidance is specific to issue type and UK jurisdiction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Designed to get a renter from uncertainty to action in under two minutes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0" y="3703320"/>
            <a:ext cx="4919472" cy="160020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6784848" y="3867912"/>
            <a:ext cx="4517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makes it better than status quo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784848" y="4206240"/>
            <a:ext cx="4517136" cy="9418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RenterShield replaces generic reading with guided action. The product does not try to be a law library; it tries to be the clearest first step a renter can take.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MARKET POTENTIAL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Large market, but the near-term opportunity is a focused self-serve wedge.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TAM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£2.1B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UK housing-related legal support and adjacent consumer legal services.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SAM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£340M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Self-serve tools and digital guidance for private renters with legal or tenancy problems.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38528"/>
            <a:ext cx="3566160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103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41448"/>
            <a:ext cx="31638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~£840k ARR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Illustrative first wedge: 5,000 premium users at £14/month after initial traction and iteration.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3794760"/>
            <a:ext cx="6400800" cy="15544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3959352"/>
            <a:ext cx="5998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version is more credible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297680"/>
            <a:ext cx="599846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original deck’s first-year SOM was ambitious. This revised framing keeps the same market logic but uses a smaller, more believable obtainable target that is easier to defend in front of judges.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269480" y="3794760"/>
            <a:ext cx="4233672" cy="15544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470648" y="3959352"/>
            <a:ext cx="38313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 base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7470648" y="4297680"/>
            <a:ext cx="3831336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English Housing Survey, Shelter reporting, and legal services market data can support the top-down story. Keep appendix notes handy for verbal Q&amp;A.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UNIQUE VALUE PROPOSITION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Unlike generic legal content or overstretched helplines, we give renters immediate personalised next steps.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Personalised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logic adapts by issue and jurisdiction, so the user gets a relevant route instead of a generic article.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Action-oriented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Outputs are built to be used immediately: action plans, letters, legal references, and practical next steps.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Zero-friction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account, no payment, no waiting for an appointment — which matters most when a housing issue is urgent.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70832"/>
            <a:ext cx="10881360" cy="10058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535424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Positioning line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73752"/>
            <a:ext cx="10479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RenterShield is not trying to replace legal advice; it is trying to become the fastest, clearest self-serve starting point for renters who need to act now.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MODEL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Free guidance builds trust; paid workflow tools unlock monetisation once urgency and complexity increase.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20240"/>
            <a:ext cx="365760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84832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 core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23160"/>
            <a:ext cx="325526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Decision-tree guidance, rights information, emergency contacts, and basic template letters remain free to maximise reach and trust.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498848" y="1920240"/>
            <a:ext cx="365760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700016" y="2084832"/>
            <a:ext cx="3255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 tier (£14/month)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0016" y="2423160"/>
            <a:ext cx="325526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AI-assisted letter drafting, deadline tracking, evidence logging, and a landlord communication timeline for high-stakes or ongoing cases.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339328" y="1920240"/>
            <a:ext cx="3163824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540496" y="2084832"/>
            <a:ext cx="2761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B2B / pilot path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540496" y="2423160"/>
            <a:ext cx="2761488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Housing associations, student housing teams, councils, or advice services that want a self-serve triage layer.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15968"/>
            <a:ext cx="5349240" cy="10972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480560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Conversion trigger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18888"/>
            <a:ext cx="49469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 are most likely to pay when their issue is time-sensitive, evidence-heavy, or emotionally draining.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36208" y="4315968"/>
            <a:ext cx="5266944" cy="1097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6437376" y="4480560"/>
            <a:ext cx="4864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to say if challenged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37376" y="4818888"/>
            <a:ext cx="4864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 is not 'pay for rights' — it is pay for organisation, drafting support, reminders, and confidence during stressful disputes.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GO-TO-MARKET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where renters already ask for help, then layer in trust and referrals.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Communities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Reddit, MoneySavingExpert, tenant forums, and student housing groups. Answer real questions and direct users to the tool when relevant.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Content + SEO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Target high-intent searches like 'landlord won’t return deposit' or 'how long to fix damp'. Publish pages that convert into guided flows.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Pilot conversations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Approach charities, unions, university housing teams, and local support organisations with a lightweight self-serve pilot.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462272"/>
            <a:ext cx="10881360" cy="86868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626864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Important correction from the feedback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965192"/>
            <a:ext cx="10479024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 not imply formal partnerships with Shelter or Citizens Advice unless they already exist. Frame this as pilot exploration, not confirmed distribution.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MVP PLAN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prototype already proves usability; the next step is stronger evidence and trust-building.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20440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in the sprint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18104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Public no-login prototype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Interactive issue flows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Region-aware guidance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Template letters and legal references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Mobile-friendly experience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34256" y="1901952"/>
            <a:ext cx="3520440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35424" y="2066544"/>
            <a:ext cx="3118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Riskiest assumptions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35424" y="2404872"/>
            <a:ext cx="3118104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Renters will self-serve before calling a helpline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Template letters feel trustworthy enough to use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Users understand this is guidance, not legal advice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Some users will pay for workflow support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010144" y="1901952"/>
            <a:ext cx="3493008" cy="242316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211312" y="2066544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Renter feedback (temporary)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11312" y="2404872"/>
            <a:ext cx="3090672" cy="17647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TEMP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572000"/>
            <a:ext cx="10881360" cy="82296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73659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Most important learning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5074920"/>
            <a:ext cx="104790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strongest when positioned as a confidence and action tool, not a generic legal information site.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TEAM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Founder with technical execution ability and strong user empathy for the problem space.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874520"/>
            <a:ext cx="3840480" cy="260604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39112"/>
            <a:ext cx="3438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Mason Preece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377440"/>
            <a:ext cx="343814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Solo founder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Background in Computer Science, with direct awareness of how poor housing conditions and lack of clear guidance affect renters. Built the prototype rapidly and can continue iterating from user feedback.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736592" y="1874520"/>
            <a:ext cx="6766560" cy="26060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937760" y="2039112"/>
            <a:ext cx="63642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founder can build it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937760" y="2377440"/>
            <a:ext cx="6364224" cy="19476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Can ship product quickly and turn feedback into working software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Understands the frustration renters face when the law is hard to navigate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Close enough to the problem to care, but technical enough to execute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Strong near-term advantage in prototyping, testing, and iteration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" y="4800600"/>
            <a:ext cx="10149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D8F3E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'Nobody should lose money or housing security because the right next step was too hard to find.'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BUDGET BREAKDOWN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modest 12-month seed budget focused on product quality, legal trust, and early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40% Product &amp; Engineering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£20,000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trust features, improve UX, expand issue coverage, and refine the premium workflow layer.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20% Legal &amp; Compliance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£10,000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Solicitor review of templates and content, plus compliance work needed to keep guidance clear and responsible.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0116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24% Marketing &amp; Acquisition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£12,000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Community-led growth, SEO content, testing channels, and early partner outreach.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224528"/>
            <a:ext cx="3566160" cy="141732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389120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16% Operations &amp; Hosting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727448"/>
            <a:ext cx="31638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£8,000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Infrastructure, analytics, customer support tooling, and experimentation costs.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15968" y="4224528"/>
            <a:ext cx="7223760" cy="141732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4517136" y="4389120"/>
            <a:ext cx="6821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Investor / judge framing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17136" y="4727448"/>
            <a:ext cx="6821424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budget is designed to unlock trust, retention, and repeatable distribution — not just more code. That makes it easier to defend as a realistic first raise.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IMPACT &amp; SCALABILITY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with renter confidence and prevent avoidable losses, then scale through repeatable issue playbooks.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Immediate impact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Helps renters understand what to do next faster, especially in issues involving deposits, repairs, eviction pressure, or unsafe conditions.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Scalable model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Expand issue coverage, improve trust signals, and add workflow tools that keep users engaged through a dispute lifecycle.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14884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Long-term vision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Become the default self-serve platform for renter rights: practical guidance, outcome tracking, and eventually a trusted consumer legal brand.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389120"/>
            <a:ext cx="10881360" cy="960120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55371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Feedback incorporated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892040"/>
            <a:ext cx="1047902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Unsupported claims have been removed. The slide now focuses on believable outcomes: faster action, higher confidence, broader issue coverage, and scalable product economics.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8B8A5"/>
          </a:solidFill>
          <a:ln>
            <a:solidFill>
              <a:srgbClr val="18B8A5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1384280" y="6437376"/>
            <a:ext cx="411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41148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B8A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58368" y="749808"/>
            <a:ext cx="8138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next 30 days should generate evidence, trust, and a clearer path to distribution.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6583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95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1. Run better validation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95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Test the prototype with 10–15 renters, capture quotes and objections, and learn which issue journeys create the most trust and urgency.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159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45171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2. Expand high-value flows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171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Add the next 5 priority issue types and improve trust markers such as disclaimers, source references, and better letter outputs.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973568" y="1901952"/>
            <a:ext cx="3566160" cy="2240280"/>
          </a:xfrm>
          <a:prstGeom prst="rect">
            <a:avLst/>
          </a:prstGeom>
          <a:solidFill>
            <a:srgbClr val="131C3A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174736" y="2066544"/>
            <a:ext cx="3163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3. Start credibility conversations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174736" y="2404872"/>
            <a:ext cx="3163824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pilot discussions with housing support organisations and begin legal review of core templates before scaling claims.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58368" y="4480560"/>
            <a:ext cx="10881360" cy="841248"/>
          </a:xfrm>
          <a:prstGeom prst="rect">
            <a:avLst/>
          </a:prstGeom>
          <a:solidFill>
            <a:srgbClr val="1C2541"/>
          </a:solidFill>
          <a:ln>
            <a:solidFill>
              <a:srgbClr val="314167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59536" y="4645152"/>
            <a:ext cx="10479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F8FAF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Contact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59536" y="4983480"/>
            <a:ext cx="104790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C9D1E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mason.work.mmp@gmail.com  •  linkedin.com/in/mason-preece-a985593b3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RenterShield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RenterShield Pitch Deck (Revised)</dc:title>
  <dc:subject>RenterShield Pitch Deck (Revised)</dc:subject>
  <dc:creator>Lovable</dc:creator>
  <cp:lastModifiedBy>Lovable</cp:lastModifiedBy>
  <cp:revision>1</cp:revision>
  <dcterms:created xsi:type="dcterms:W3CDTF">2026-03-17T20:47:21Z</dcterms:created>
  <dcterms:modified xsi:type="dcterms:W3CDTF">2026-03-17T20:47:21Z</dcterms:modified>
</cp:coreProperties>
</file>